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B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DC5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A3264"/>
                </a:solidFill>
              </a:defRPr>
            </a:pPr>
            <a:r>
              <a:t>Indulge in the Art of Chocolatiering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i="1">
                <a:solidFill>
                  <a:srgbClr val="323C46"/>
                </a:solidFill>
              </a:defRPr>
            </a:pPr>
            <a:r>
              <a:t>Unveiling the Sweet Craftsmanship Behind Every Chocolate Creation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B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91440" cy="548640"/>
          </a:xfrm>
          <a:prstGeom prst="rect">
            <a:avLst/>
          </a:prstGeom>
          <a:solidFill>
            <a:srgbClr val="DC5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3264"/>
                </a:solidFill>
              </a:defRPr>
            </a:pPr>
            <a:r>
              <a:t>The Rich History of Chocolate</a:t>
            </a:r>
          </a:p>
        </p:txBody>
      </p:sp>
      <p:pic>
        <p:nvPicPr>
          <p:cNvPr id="5" name="Picture 4" descr="history_of_chocolate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371600"/>
            <a:ext cx="3474720" cy="23177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18872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23C46"/>
                </a:solidFill>
              </a:defRPr>
            </a:pPr>
            <a:r>
              <a:t>Exploring the Origins and Evolution of Chocolate Over the Centuries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0312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23C46"/>
                </a:solidFill>
              </a:defRPr>
            </a:pPr>
            <a:r>
              <a:t>• Chocolate dates back to ancient Mesoamerican cultures, such as the Maya and Aztecs, who revered cacao.</a:t>
            </a:r>
          </a:p>
          <a:p>
            <a:pPr>
              <a:spcAft>
                <a:spcPts val="800"/>
              </a:spcAft>
              <a:defRPr sz="1400">
                <a:solidFill>
                  <a:srgbClr val="323C46"/>
                </a:solidFill>
              </a:defRPr>
            </a:pPr>
            <a:r>
              <a:t>• The Spanish brought chocolate to Europe, transforming it into a luxurious drink for the elite.</a:t>
            </a:r>
          </a:p>
          <a:p>
            <a:pPr>
              <a:spcAft>
                <a:spcPts val="800"/>
              </a:spcAft>
              <a:defRPr sz="1400">
                <a:solidFill>
                  <a:srgbClr val="323C46"/>
                </a:solidFill>
              </a:defRPr>
            </a:pPr>
            <a:r>
              <a:t>• By the 19th century, innovations in chocolate processing made it accessible to a broader audience.</a:t>
            </a:r>
          </a:p>
          <a:p>
            <a:pPr>
              <a:spcAft>
                <a:spcPts val="800"/>
              </a:spcAft>
              <a:defRPr sz="1400">
                <a:solidFill>
                  <a:srgbClr val="323C46"/>
                </a:solidFill>
              </a:defRPr>
            </a:pPr>
            <a:r>
              <a:t>• Modern chocolate manufacturing techniques have evolved, yet traditional methods still hold significance.</a:t>
            </a:r>
          </a:p>
          <a:p>
            <a:pPr>
              <a:spcAft>
                <a:spcPts val="800"/>
              </a:spcAft>
              <a:defRPr sz="1400">
                <a:solidFill>
                  <a:srgbClr val="323C46"/>
                </a:solidFill>
              </a:defRPr>
            </a:pPr>
            <a:r>
              <a:t>• Understanding chocolate's history provides insight into its cultural and economic impact globally.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B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91440" cy="548640"/>
          </a:xfrm>
          <a:prstGeom prst="rect">
            <a:avLst/>
          </a:prstGeom>
          <a:solidFill>
            <a:srgbClr val="DC5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3264"/>
                </a:solidFill>
              </a:defRPr>
            </a:pPr>
            <a:r>
              <a:t>The Science of Chocolate Making</a:t>
            </a:r>
          </a:p>
        </p:txBody>
      </p:sp>
      <p:pic>
        <p:nvPicPr>
          <p:cNvPr id="5" name="Picture 4" descr="chocolate_making_process_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371600"/>
            <a:ext cx="3474720" cy="52160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18872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23C46"/>
                </a:solidFill>
              </a:defRPr>
            </a:pPr>
            <a:r>
              <a:t>Delving into the Complex Processes Behind Crafting Chocolate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0312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23C46"/>
                </a:solidFill>
              </a:defRPr>
            </a:pPr>
            <a:r>
              <a:t>• Chocolate production begins with harvesting cacao pods and fermenting the beans to enhance flavor.</a:t>
            </a:r>
          </a:p>
          <a:p>
            <a:pPr>
              <a:spcAft>
                <a:spcPts val="800"/>
              </a:spcAft>
              <a:defRPr sz="1400">
                <a:solidFill>
                  <a:srgbClr val="323C46"/>
                </a:solidFill>
              </a:defRPr>
            </a:pPr>
            <a:r>
              <a:t>• Roasting cacao beans at precise temperatures is crucial for developing the characteristic chocolate taste.</a:t>
            </a:r>
          </a:p>
          <a:p>
            <a:pPr>
              <a:spcAft>
                <a:spcPts val="800"/>
              </a:spcAft>
              <a:defRPr sz="1400">
                <a:solidFill>
                  <a:srgbClr val="323C46"/>
                </a:solidFill>
              </a:defRPr>
            </a:pPr>
            <a:r>
              <a:t>• Grinding the roasted beans produces cocoa mass, which forms the base of all chocolate products.</a:t>
            </a:r>
          </a:p>
          <a:p>
            <a:pPr>
              <a:spcAft>
                <a:spcPts val="800"/>
              </a:spcAft>
              <a:defRPr sz="1400">
                <a:solidFill>
                  <a:srgbClr val="323C46"/>
                </a:solidFill>
              </a:defRPr>
            </a:pPr>
            <a:r>
              <a:t>• Conching refines the chocolate texture, improving its smoothness and flavor through extended mixing.</a:t>
            </a:r>
          </a:p>
          <a:p>
            <a:pPr>
              <a:spcAft>
                <a:spcPts val="800"/>
              </a:spcAft>
              <a:defRPr sz="1400">
                <a:solidFill>
                  <a:srgbClr val="323C46"/>
                </a:solidFill>
              </a:defRPr>
            </a:pPr>
            <a:r>
              <a:t>• Tempering involves controlled cooling and heating to stabilize chocolate, giving it a glossy finish.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B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91440" cy="548640"/>
          </a:xfrm>
          <a:prstGeom prst="rect">
            <a:avLst/>
          </a:prstGeom>
          <a:solidFill>
            <a:srgbClr val="DC5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3264"/>
                </a:solidFill>
              </a:defRPr>
            </a:pPr>
            <a:r>
              <a:t>Exploring Chocolate Varieties</a:t>
            </a:r>
          </a:p>
        </p:txBody>
      </p:sp>
      <p:pic>
        <p:nvPicPr>
          <p:cNvPr id="5" name="Picture 4" descr="chocolate_varieties_3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371600"/>
            <a:ext cx="3474720" cy="52160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18872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23C46"/>
                </a:solidFill>
              </a:defRPr>
            </a:pPr>
            <a:r>
              <a:t>A Guide to Different Types of Chocolates and Their Unique Characteristics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0312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23C46"/>
                </a:solidFill>
              </a:defRPr>
            </a:pPr>
            <a:r>
              <a:t>• Dark chocolate, known for its high cocoa content, offers a rich, intense flavor profile.</a:t>
            </a:r>
          </a:p>
          <a:p>
            <a:pPr>
              <a:spcAft>
                <a:spcPts val="800"/>
              </a:spcAft>
              <a:defRPr sz="1400">
                <a:solidFill>
                  <a:srgbClr val="323C46"/>
                </a:solidFill>
              </a:defRPr>
            </a:pPr>
            <a:r>
              <a:t>• Milk chocolate blends cocoa with milk solids, creating a creamy and sweeter taste experience.</a:t>
            </a:r>
          </a:p>
          <a:p>
            <a:pPr>
              <a:spcAft>
                <a:spcPts val="800"/>
              </a:spcAft>
              <a:defRPr sz="1400">
                <a:solidFill>
                  <a:srgbClr val="323C46"/>
                </a:solidFill>
              </a:defRPr>
            </a:pPr>
            <a:r>
              <a:t>• White chocolate, devoid of cocoa solids, highlights cocoa butter combined with sugar and milk.</a:t>
            </a:r>
          </a:p>
          <a:p>
            <a:pPr>
              <a:spcAft>
                <a:spcPts val="800"/>
              </a:spcAft>
              <a:defRPr sz="1400">
                <a:solidFill>
                  <a:srgbClr val="323C46"/>
                </a:solidFill>
              </a:defRPr>
            </a:pPr>
            <a:r>
              <a:t>• Ruby chocolate, a recent innovation, is celebrated for its natural pink hue and fruity notes.</a:t>
            </a:r>
          </a:p>
          <a:p>
            <a:pPr>
              <a:spcAft>
                <a:spcPts val="800"/>
              </a:spcAft>
              <a:defRPr sz="1400">
                <a:solidFill>
                  <a:srgbClr val="323C46"/>
                </a:solidFill>
              </a:defRPr>
            </a:pPr>
            <a:r>
              <a:t>• Each chocolate type provides distinct culinary possibilities, catering to various taste preferences.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B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91440" cy="548640"/>
          </a:xfrm>
          <a:prstGeom prst="rect">
            <a:avLst/>
          </a:prstGeom>
          <a:solidFill>
            <a:srgbClr val="DC5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3264"/>
                </a:solidFill>
              </a:defRPr>
            </a:pPr>
            <a:r>
              <a:t>Flavor Pairing and Chocolate</a:t>
            </a:r>
          </a:p>
        </p:txBody>
      </p:sp>
      <p:pic>
        <p:nvPicPr>
          <p:cNvPr id="5" name="Picture 4" descr="chocolate_flavor_pairing_8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371600"/>
            <a:ext cx="3474720" cy="52160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18872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23C46"/>
                </a:solidFill>
              </a:defRPr>
            </a:pPr>
            <a:r>
              <a:t>Mastering the Art of Pairing Chocolate with Complementary Flavors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0312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23C46"/>
                </a:solidFill>
              </a:defRPr>
            </a:pPr>
            <a:r>
              <a:t>• Pairing chocolate with fruits, such as berries, enhances its natural sweetness and acidity balance.</a:t>
            </a:r>
          </a:p>
          <a:p>
            <a:pPr>
              <a:spcAft>
                <a:spcPts val="800"/>
              </a:spcAft>
              <a:defRPr sz="1400">
                <a:solidFill>
                  <a:srgbClr val="323C46"/>
                </a:solidFill>
              </a:defRPr>
            </a:pPr>
            <a:r>
              <a:t>• Nuts, like almonds and hazelnuts, add texture and a savory contrast to chocolate's creaminess.</a:t>
            </a:r>
          </a:p>
          <a:p>
            <a:pPr>
              <a:spcAft>
                <a:spcPts val="800"/>
              </a:spcAft>
              <a:defRPr sz="1400">
                <a:solidFill>
                  <a:srgbClr val="323C46"/>
                </a:solidFill>
              </a:defRPr>
            </a:pPr>
            <a:r>
              <a:t>• Spices, including cinnamon and chili, can intensify chocolate's complexity and depth of flavor.</a:t>
            </a:r>
          </a:p>
          <a:p>
            <a:pPr>
              <a:spcAft>
                <a:spcPts val="800"/>
              </a:spcAft>
              <a:defRPr sz="1400">
                <a:solidFill>
                  <a:srgbClr val="323C46"/>
                </a:solidFill>
              </a:defRPr>
            </a:pPr>
            <a:r>
              <a:t>• Cheese and chocolate combinations offer a surprising harmony of salty and sweet sensations.</a:t>
            </a:r>
          </a:p>
          <a:p>
            <a:pPr>
              <a:spcAft>
                <a:spcPts val="800"/>
              </a:spcAft>
              <a:defRPr sz="1400">
                <a:solidFill>
                  <a:srgbClr val="323C46"/>
                </a:solidFill>
              </a:defRPr>
            </a:pPr>
            <a:r>
              <a:t>• Experimenting with flavor pairings can elevate chocolate experiences, unlocking new dimensions of taste.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B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91440" cy="548640"/>
          </a:xfrm>
          <a:prstGeom prst="rect">
            <a:avLst/>
          </a:prstGeom>
          <a:solidFill>
            <a:srgbClr val="DC5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3264"/>
                </a:solidFill>
              </a:defRPr>
            </a:pPr>
            <a:r>
              <a:t>Chocolate and Health Benefits</a:t>
            </a:r>
          </a:p>
        </p:txBody>
      </p:sp>
      <p:pic>
        <p:nvPicPr>
          <p:cNvPr id="5" name="Picture 4" descr="chocolate_health_benefits_9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371600"/>
            <a:ext cx="3474720" cy="23177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18872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23C46"/>
                </a:solidFill>
              </a:defRPr>
            </a:pPr>
            <a:r>
              <a:t>Understanding the Potential Health Advantages of Consuming Chocolate in Moderation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0312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23C46"/>
                </a:solidFill>
              </a:defRPr>
            </a:pPr>
            <a:r>
              <a:t>• Dark chocolate is rich in antioxidants, which may help reduce inflammation and improve heart health.</a:t>
            </a:r>
          </a:p>
          <a:p>
            <a:pPr>
              <a:spcAft>
                <a:spcPts val="800"/>
              </a:spcAft>
              <a:defRPr sz="1400">
                <a:solidFill>
                  <a:srgbClr val="323C46"/>
                </a:solidFill>
              </a:defRPr>
            </a:pPr>
            <a:r>
              <a:t>• Consuming chocolate can stimulate endorphin production, potentially boosting mood and reducing stress.</a:t>
            </a:r>
          </a:p>
          <a:p>
            <a:pPr>
              <a:spcAft>
                <a:spcPts val="800"/>
              </a:spcAft>
              <a:defRPr sz="1400">
                <a:solidFill>
                  <a:srgbClr val="323C46"/>
                </a:solidFill>
              </a:defRPr>
            </a:pPr>
            <a:r>
              <a:t>• Flavonoids in chocolate are associated with improved brain function and cognitive performance.</a:t>
            </a:r>
          </a:p>
          <a:p>
            <a:pPr>
              <a:spcAft>
                <a:spcPts val="800"/>
              </a:spcAft>
              <a:defRPr sz="1400">
                <a:solidFill>
                  <a:srgbClr val="323C46"/>
                </a:solidFill>
              </a:defRPr>
            </a:pPr>
            <a:r>
              <a:t>• Moderate chocolate intake may lower blood pressure and improve blood flow, supporting cardiovascular health.</a:t>
            </a:r>
          </a:p>
          <a:p>
            <a:pPr>
              <a:spcAft>
                <a:spcPts val="800"/>
              </a:spcAft>
              <a:defRPr sz="1400">
                <a:solidFill>
                  <a:srgbClr val="323C46"/>
                </a:solidFill>
              </a:defRPr>
            </a:pPr>
            <a:r>
              <a:t>• Balancing chocolate consumption with a healthy diet is key to maximizing its potential benefits.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B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91440" cy="548640"/>
          </a:xfrm>
          <a:prstGeom prst="rect">
            <a:avLst/>
          </a:prstGeom>
          <a:solidFill>
            <a:srgbClr val="DC5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3264"/>
                </a:solidFill>
              </a:defRPr>
            </a:pPr>
            <a:r>
              <a:t>Ethical Chocolate Sourcing</a:t>
            </a:r>
          </a:p>
        </p:txBody>
      </p:sp>
      <p:pic>
        <p:nvPicPr>
          <p:cNvPr id="5" name="Picture 4" descr="ethical_chocolate_sourcing_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371600"/>
            <a:ext cx="3474720" cy="52160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18872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23C46"/>
                </a:solidFill>
              </a:defRPr>
            </a:pPr>
            <a:r>
              <a:t>Promoting Sustainable Practices in the Chocolate Industry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0312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23C46"/>
                </a:solidFill>
              </a:defRPr>
            </a:pPr>
            <a:r>
              <a:t>• Fair trade certifications ensure that cocoa farmers receive equitable wages and work in safe conditions.</a:t>
            </a:r>
          </a:p>
          <a:p>
            <a:pPr>
              <a:spcAft>
                <a:spcPts val="800"/>
              </a:spcAft>
              <a:defRPr sz="1400">
                <a:solidFill>
                  <a:srgbClr val="323C46"/>
                </a:solidFill>
              </a:defRPr>
            </a:pPr>
            <a:r>
              <a:t>• Sustainable farming practices help preserve biodiversity and reduce environmental impact in cacao cultivation.</a:t>
            </a:r>
          </a:p>
          <a:p>
            <a:pPr>
              <a:spcAft>
                <a:spcPts val="800"/>
              </a:spcAft>
              <a:defRPr sz="1400">
                <a:solidFill>
                  <a:srgbClr val="323C46"/>
                </a:solidFill>
              </a:defRPr>
            </a:pPr>
            <a:r>
              <a:t>• Consumers can support ethical chocolate by choosing brands committed to transparency and responsible sourcing.</a:t>
            </a:r>
          </a:p>
          <a:p>
            <a:pPr>
              <a:spcAft>
                <a:spcPts val="800"/>
              </a:spcAft>
              <a:defRPr sz="1400">
                <a:solidFill>
                  <a:srgbClr val="323C46"/>
                </a:solidFill>
              </a:defRPr>
            </a:pPr>
            <a:r>
              <a:t>• Addressing child labor issues is critical for promoting social justice within the chocolate supply chain.</a:t>
            </a:r>
          </a:p>
          <a:p>
            <a:pPr>
              <a:spcAft>
                <a:spcPts val="800"/>
              </a:spcAft>
              <a:defRPr sz="1400">
                <a:solidFill>
                  <a:srgbClr val="323C46"/>
                </a:solidFill>
              </a:defRPr>
            </a:pPr>
            <a:r>
              <a:t>• Informed choices can drive industry change, encouraging companies to adopt more ethical practices.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B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91440" cy="548640"/>
          </a:xfrm>
          <a:prstGeom prst="rect">
            <a:avLst/>
          </a:prstGeom>
          <a:solidFill>
            <a:srgbClr val="DC5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3264"/>
                </a:solidFill>
              </a:defRPr>
            </a:pPr>
            <a:r>
              <a:t>Innovations in Chocolate</a:t>
            </a:r>
          </a:p>
        </p:txBody>
      </p:sp>
      <p:pic>
        <p:nvPicPr>
          <p:cNvPr id="5" name="Picture 4" descr="chocolate_innovations_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371600"/>
            <a:ext cx="3474720" cy="23177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18872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23C46"/>
                </a:solidFill>
              </a:defRPr>
            </a:pPr>
            <a:r>
              <a:t>Exploring Cutting-Edge Developments in Chocolate Production and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0312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23C46"/>
                </a:solidFill>
              </a:defRPr>
            </a:pPr>
            <a:r>
              <a:t>• 3D printing technology allows for the creation of intricate chocolate designs previously deemed impossible.</a:t>
            </a:r>
          </a:p>
          <a:p>
            <a:pPr>
              <a:spcAft>
                <a:spcPts val="800"/>
              </a:spcAft>
              <a:defRPr sz="1400">
                <a:solidFill>
                  <a:srgbClr val="323C46"/>
                </a:solidFill>
              </a:defRPr>
            </a:pPr>
            <a:r>
              <a:t>• Plant-based chocolate alternatives cater to growing demand for vegan and allergen-free confectionery options.</a:t>
            </a:r>
          </a:p>
          <a:p>
            <a:pPr>
              <a:spcAft>
                <a:spcPts val="800"/>
              </a:spcAft>
              <a:defRPr sz="1400">
                <a:solidFill>
                  <a:srgbClr val="323C46"/>
                </a:solidFill>
              </a:defRPr>
            </a:pPr>
            <a:r>
              <a:t>• Functional chocolates, infused with ingredients like probiotics, offer additional health benefits beyond indulgence.</a:t>
            </a:r>
          </a:p>
          <a:p>
            <a:pPr>
              <a:spcAft>
                <a:spcPts val="800"/>
              </a:spcAft>
              <a:defRPr sz="1400">
                <a:solidFill>
                  <a:srgbClr val="323C46"/>
                </a:solidFill>
              </a:defRPr>
            </a:pPr>
            <a:r>
              <a:t>• Artisanal chocolatiers are experimenting with unconventional ingredients, pushing boundaries of flavor and form.</a:t>
            </a:r>
          </a:p>
          <a:p>
            <a:pPr>
              <a:spcAft>
                <a:spcPts val="800"/>
              </a:spcAft>
              <a:defRPr sz="1400">
                <a:solidFill>
                  <a:srgbClr val="323C46"/>
                </a:solidFill>
              </a:defRPr>
            </a:pPr>
            <a:r>
              <a:t>• Technological advancements continue to shape the future of chocolate, blending tradition with innovation.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B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91440" cy="548640"/>
          </a:xfrm>
          <a:prstGeom prst="rect">
            <a:avLst/>
          </a:prstGeom>
          <a:solidFill>
            <a:srgbClr val="DC5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3264"/>
                </a:solidFill>
              </a:defRPr>
            </a:pPr>
            <a:r>
              <a:t>The Future of Chocolate</a:t>
            </a:r>
          </a:p>
        </p:txBody>
      </p:sp>
      <p:pic>
        <p:nvPicPr>
          <p:cNvPr id="5" name="Picture 4" descr="history_of_chocolate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371600"/>
            <a:ext cx="3474720" cy="23177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18872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23C46"/>
                </a:solidFill>
              </a:defRPr>
            </a:pPr>
            <a:r>
              <a:t>Anticipating Trends and Challenges Facing the Chocolate Industry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0312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23C46"/>
                </a:solidFill>
              </a:defRPr>
            </a:pPr>
            <a:r>
              <a:t>• Climate change poses significant challenges to cacao production, threatening the future chocolate supply.</a:t>
            </a:r>
          </a:p>
          <a:p>
            <a:pPr>
              <a:spcAft>
                <a:spcPts val="800"/>
              </a:spcAft>
              <a:defRPr sz="1400">
                <a:solidFill>
                  <a:srgbClr val="323C46"/>
                </a:solidFill>
              </a:defRPr>
            </a:pPr>
            <a:r>
              <a:t>• Advancements in sustainable practices are crucial for ensuring long-term viability of chocolate production.</a:t>
            </a:r>
          </a:p>
          <a:p>
            <a:pPr>
              <a:spcAft>
                <a:spcPts val="800"/>
              </a:spcAft>
              <a:defRPr sz="1400">
                <a:solidFill>
                  <a:srgbClr val="323C46"/>
                </a:solidFill>
              </a:defRPr>
            </a:pPr>
            <a:r>
              <a:t>• Consumer preferences are shifting towards more ethical, health-conscious, and environmentally friendly chocolate options.</a:t>
            </a:r>
          </a:p>
          <a:p>
            <a:pPr>
              <a:spcAft>
                <a:spcPts val="800"/>
              </a:spcAft>
              <a:defRPr sz="1400">
                <a:solidFill>
                  <a:srgbClr val="323C46"/>
                </a:solidFill>
              </a:defRPr>
            </a:pPr>
            <a:r>
              <a:t>• Innovations in flavor and texture will continue to shape consumer expectations and market trends.</a:t>
            </a:r>
          </a:p>
          <a:p>
            <a:pPr>
              <a:spcAft>
                <a:spcPts val="800"/>
              </a:spcAft>
              <a:defRPr sz="1400">
                <a:solidFill>
                  <a:srgbClr val="323C46"/>
                </a:solidFill>
              </a:defRPr>
            </a:pPr>
            <a:r>
              <a:t>• The chocolate industry must adapt to changing demands while preserving the art of traditional chocolatiering.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